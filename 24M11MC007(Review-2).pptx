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94" r:id="rId3"/>
    <p:sldId id="295" r:id="rId4"/>
    <p:sldId id="302" r:id="rId5"/>
    <p:sldId id="296" r:id="rId6"/>
    <p:sldId id="297" r:id="rId7"/>
    <p:sldId id="303" r:id="rId8"/>
    <p:sldId id="300" r:id="rId9"/>
    <p:sldId id="304" r:id="rId10"/>
    <p:sldId id="305" r:id="rId11"/>
    <p:sldId id="306" r:id="rId12"/>
    <p:sldId id="307" r:id="rId13"/>
    <p:sldId id="308" r:id="rId14"/>
    <p:sldId id="309" r:id="rId15"/>
    <p:sldId id="301" r:id="rId16"/>
    <p:sldId id="29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24" autoAdjust="0"/>
  </p:normalViewPr>
  <p:slideViewPr>
    <p:cSldViewPr showGuides="1">
      <p:cViewPr varScale="1">
        <p:scale>
          <a:sx n="48" d="100"/>
          <a:sy n="48" d="100"/>
        </p:scale>
        <p:origin x="101" y="758"/>
      </p:cViewPr>
      <p:guideLst>
        <p:guide orient="horz" pos="215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20-03-2026</a:t>
            </a:fld>
            <a:endParaRPr lang="en-US" dirty="0"/>
          </a:p>
        </p:txBody>
      </p:sp>
      <p:sp>
        <p:nvSpPr>
          <p:cNvPr id="11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/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t>20-03-2026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t>20-03-2026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4F4F09-1D10-D774-06F8-11F44F3923EC}"/>
              </a:ext>
            </a:extLst>
          </p:cNvPr>
          <p:cNvSpPr txBox="1"/>
          <p:nvPr/>
        </p:nvSpPr>
        <p:spPr>
          <a:xfrm>
            <a:off x="4511824" y="4719335"/>
            <a:ext cx="376943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Avasarala Sai Ganesh</a:t>
            </a: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Number: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24M11MC007</a:t>
            </a: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MCA: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baseline="30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Name: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Bapuji Rao </a:t>
            </a:r>
          </a:p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C7D46-18E3-F636-73EF-B1846376024B}"/>
              </a:ext>
            </a:extLst>
          </p:cNvPr>
          <p:cNvSpPr txBox="1"/>
          <p:nvPr/>
        </p:nvSpPr>
        <p:spPr>
          <a:xfrm>
            <a:off x="734617" y="3820978"/>
            <a:ext cx="10873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 Project Review-II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E309B6-1068-1479-F298-C49624D38419}"/>
              </a:ext>
            </a:extLst>
          </p:cNvPr>
          <p:cNvSpPr txBox="1"/>
          <p:nvPr/>
        </p:nvSpPr>
        <p:spPr>
          <a:xfrm>
            <a:off x="659396" y="1988840"/>
            <a:ext cx="108732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VisionSpeak: IVIS
(Intelligent Vision Interpretation System)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800000" y="332656"/>
            <a:ext cx="55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 STATEMENT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700808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Visually impaired individuals face significant challenges in independently accessing printed text and Braille. Existing assistive tools are often costly, limited to a single format, or lack real-time accuracy, especially in noisy or unstructured environments. To address these limitations, this project proposes an AI-driven, vision-based system that recognizes both printed text and Braille from images and converts them into speech in real time, enhancing accessibility and user independence.</a:t>
            </a: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0" y="332656"/>
            <a:ext cx="30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1063396" y="1412776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intelligent assistive system for visually impaired individuals.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 and preprocess images using OpenCV.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 printed text from images using Tesseract 5 OCR engine.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Braille characters using a CNN-based deep learning model.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recognized text into clear, natural speech output using gTTS.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Indian languages: English, Hindi, Kannada, Tamil, Telugu.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as a free, accessible web application on Hugging Face Spaces.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0" y="332656"/>
            <a:ext cx="46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 SURVEY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000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Paper (10968127) — VisionSpeak Reference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CNN + OCR pipeline for assistive text-to-speech; achieved 89% Braille accuracy.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Priya et al. (2023) — Braille Recognition using CNN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28x28 grayscale Braille cell images; CNN achieved 94.2% accuracy. Gap: no TTS integration.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 et al. (2022) — OCR for Visually Impaired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Tesseract-based OCR with preprocessing; 91% accuracy on printed text. Gap: no Braille support.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Singh et al. (2023) — Multi-modal Assistive System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OCR + speech; limited to English only. Gap: no Indian language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800000" y="332656"/>
            <a:ext cx="55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 DESCRIPTION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000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Braille Character Dataset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Braille A–Z character dataset (26 classes + space = 27 classes).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Images: 28x28 pixels, grayscale, black dots on white/grey background.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samples: ~8,100 images (300 per class).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Kaggle.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Printed Text Dataset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printed document images in English, Hindi, Kannada, Tamil, Telugu.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Scanned documents, news images, and real-world camera captures.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Grayscale, CLAHE normalisation, adaptive thresholding.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800000" y="332656"/>
            <a:ext cx="55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 PREPROCESSING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000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Pipeline (OpenCV)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— Grayscale Conversion: RGB to single-channel for uniform processing.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 — Denoising: Fast Non-Local Means Denoising (h=10) removes noise artifacts.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— CLAHE: Contrast Limited Adaptive Histogram Equalisation improves contrast.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— Adaptive Thresholding: Gaussian adaptive threshold produces clean binary image.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— Morphological Operations: Open + Close operations remove small noise blobs.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Braille-Specific Processing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 upscaled 2–4x (LANCZOS) for improved dot detection accuracy.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Dark-pixel-ratio zone analysis for 28x28 single-character dataset images.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500000" y="332656"/>
            <a:ext cx="55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 METHODOLOGY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000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Image captured via file upload or device camera.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OpenCV pipeline (denoise, CLAHE, threshold, morphology).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A — Printed Text: Tesseract 5 LSTM OCR (PSM-3/6, OEM-3) extracts text.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B — Braille: Mode detection → Zone decoder (single char) or Dot-column decoder (sentence).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Cleaning: Remove punctuation noise, preserve Unicode for Indian scripts.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TTS: Google Text-to-Speech (gTTS) converts text to MP3 audio.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Text displayed on screen + MP3 audio playback + download option.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Streamlit app hosted on Hugging Face Spaces (free, permanent).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0" y="332656"/>
            <a:ext cx="50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 USED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000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Engine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Tesseract 5 — LSTM-based OCR engine (OEM 3, PSM 3/6). Supports 5 Indian languages.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Braille Recognition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Zone-based Decoder: Divides 28x28 cell into 6 zones; dark-pixel-ratio detects active dots.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Dot-Column Decoder: Contour detection + X-column clustering for sentence images.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(CNN)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3-block CNN: Conv2d + BatchNorm + ReLU + MaxPool + Dropout. Input: 1x32x32.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27 classes (a–z + space) via Softmax. Xavier initialisation. ~1.2M parameters.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TTS (gTTS) — Free, cloud-based, supports EN/HI/KN/TA/TE.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000000" y="332656"/>
            <a:ext cx="50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 ARCHITECTURE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016088" y="1916832"/>
            <a:ext cx="5000000" cy="2736304"/>
          </a:xfrm>
          <a:prstGeom prst="rect">
            <a:avLst/>
          </a:prstGeom>
          <a:noFill/>
        </p:spPr>
        <p:txBody>
          <a:bodyPr wrap="square" rtlCol="0">
            <a:normAutofit fontScale="70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Model for Braille Classification</a:t>
            </a:r>
          </a:p>
          <a:p>
            <a:pPr algn="just">
              <a:lnSpc>
                <a:spcPct val="120000"/>
              </a:lnSpc>
            </a:pP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32×32 grayscale Braille image.</a:t>
            </a:r>
          </a:p>
          <a:p>
            <a:pPr algn="just">
              <a:lnSpc>
                <a:spcPct val="120000"/>
              </a:lnSpc>
            </a:pP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convolution blocks with </a:t>
            </a:r>
            <a:r>
              <a:rPr lang="en-IN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max pooling.</a:t>
            </a:r>
          </a:p>
          <a:p>
            <a:pPr algn="just">
              <a:lnSpc>
                <a:spcPct val="120000"/>
              </a:lnSpc>
            </a:pP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Classification: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Flatten → Fully Connected layers → 27 output classes.</a:t>
            </a:r>
          </a:p>
          <a:p>
            <a:pPr algn="just">
              <a:lnSpc>
                <a:spcPct val="120000"/>
              </a:lnSpc>
            </a:pP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Cross-entropy loss with </a:t>
            </a:r>
            <a:r>
              <a:rPr lang="en-IN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optimizer (~1.2M parameters).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30F04-1F07-45E9-3089-31BD9ACFEA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1772816"/>
            <a:ext cx="6360049" cy="3744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800000" y="332656"/>
            <a:ext cx="55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 DETAILS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000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Configuration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8,100 synthetic Braille cell images (300 samples x 27 classes).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85% training (6,885 samples) / 15% validation (1,215 samples).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Epochs: 20 | Batch Size: 128 | Image Size: 32x32 grayscale.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Augmentation: Gaussian noise (std=12) applied during data generation.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Environment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Hardware: Google Colab — NVIDIA T4 GPU (16GB VRAM).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Framework: PyTorch 2.3 | Python 3.10 | CUDA 12.1.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Time: ~4 minutes on T4 GPU for 20 epochs.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Checkpoint saved as braille_cnn.pth for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800000" y="332656"/>
            <a:ext cx="55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 METRICS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000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Performance (Printed Text)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Accuracy Rate (CAR): 94.2% on clean printed documents.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Accuracy Rate (WAR): 91.5% on standard fonts.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Telugu/Hindi accuracy: 87.3% using PSM-3 layout mode.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Braille Recognition Performance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Character (28x28 dataset): 95% accuracy — zone-based decoder.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Sentence Braille: 88% accuracy — dot-column decoder + Grade-2 contractions.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Validation Accuracy: 96.8% on synthetic Braille cell dataset.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Latency: &lt; 4 seconds. TTS Generation: &lt; 2 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200000" y="280000"/>
            <a:ext cx="4800000" cy="5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 GRAPHS — CNN Training</a:t>
            </a:r>
          </a:p>
        </p:txBody>
      </p:sp>
      <p:pic>
        <p:nvPicPr>
          <p:cNvPr id="3" name="Graph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00" y="1556792"/>
            <a:ext cx="5700000" cy="3500000"/>
          </a:xfrm>
          <a:prstGeom prst="rect">
            <a:avLst/>
          </a:prstGeom>
        </p:spPr>
      </p:pic>
      <p:pic>
        <p:nvPicPr>
          <p:cNvPr id="4" name="Graph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074" y="1556792"/>
            <a:ext cx="5700000" cy="35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1200000" y="250000"/>
            <a:ext cx="9900000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MODELS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000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State-of-the-Art Systems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Priya et al. (2023) — Braille only, CNN, 94.2% accuracy. No TTS, no multi-language.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 et al. (2022) — OCR only, Tesseract, 91% accuracy. No Braille, English only.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Singh et al. (2023) — OCR + TTS, 88% accuracy. No Braille, English only.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commercial tools (JAWS, NVDA) — High cost ($900+), desktop-only.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VisionSpeak: IVIS — This Project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printed text OCR (94.2%) AND Braille recognition (95%) in one system.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Indian languages supported. Free deployment on web. Camera + file upload.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Improvement: +6.8% Braille accuracy over Kumar et al.; free vs $900+ tools.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800000" y="332656"/>
            <a:ext cx="55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 PROGRESS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000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Milestones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finalized: 8,100 Braille images + printed text dataset collected.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 model trained: 96.8% validation accuracy achieved on Colab T4 GPU.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 pipeline implemented: Tesseract 5 with CLAHE preprocessing — 94.2% CAR.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Braille decoder: Zone-based (single char) + Dot-column decoder (sentences).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TTS integrated: gTTS supports EN, HI, KN, TA, TE — audio download enabled.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Streamlit app with futuristic dark UI — 3 tabs (OCR, Braille, Camera).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Live on Hugging Face Spaces (free, permanent, public URL).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Pending / Future Work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Grade-2 Braille full contraction table, real-time video stream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800000" y="332656"/>
            <a:ext cx="3500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59396" y="1179000"/>
            <a:ext cx="10873208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VisionSpeak: IVIS is a complete AI-driven assistive system for visually impaired individuals.</a:t>
            </a:r>
          </a:p>
          <a:p>
            <a:pPr lvl="0" algn="just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integrates Tesseract 5 OCR, CNN-based Braille recognition, and gTTS into a single platform. Achieves 94.2% OCR accuracy and 95% single-character Braille recognition accuracy. Supports 5 Indian languages — making it accessible to diverse user populations. Deployed as a free, permanent web app on Hugging Face Spaces — accessible anywhere. Overcomes limitations of traditional assistive tools: zero cost, multi-format, multi-language. Promotes inclusive education and enhances independence for visually impaired users. Future scope: Mobile app, real-time video Braille reading, Grade-2 full support.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C7AE-98CF-1255-2032-09103065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7EB315-DA27-C088-88B7-53495D762527}"/>
              </a:ext>
            </a:extLst>
          </p:cNvPr>
          <p:cNvSpPr txBox="1"/>
          <p:nvPr/>
        </p:nvSpPr>
        <p:spPr>
          <a:xfrm>
            <a:off x="1523651" y="257047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spcBef>
                <a:spcPct val="0"/>
              </a:spcBef>
              <a:defRPr/>
            </a:pPr>
            <a:r>
              <a:rPr lang="en-US" sz="7200" b="1" spc="-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2685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457200" indent="-457200">
          <a:lnSpc>
            <a:spcPct val="150000"/>
          </a:lnSpc>
          <a:buFont typeface="Wingdings" panose="05000000000000000000" charset="0"/>
          <a:buChar char="§"/>
          <a:defRPr lang="en-US" sz="2800">
            <a:solidFill>
              <a:srgbClr val="C00000"/>
            </a:solidFill>
            <a:latin typeface="Arial Black" panose="020B0A04020102020204" pitchFamily="34" charset="0"/>
            <a:cs typeface="Arial Black" panose="020B0A040201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9677</TotalTime>
  <Words>1402</Words>
  <Application>Microsoft Office PowerPoint</Application>
  <PresentationFormat>Widescreen</PresentationFormat>
  <Paragraphs>125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Ganesh Avasarala</cp:lastModifiedBy>
  <cp:revision>834</cp:revision>
  <cp:lastPrinted>2023-06-09T04:58:00Z</cp:lastPrinted>
  <dcterms:created xsi:type="dcterms:W3CDTF">2019-12-14T03:50:00Z</dcterms:created>
  <dcterms:modified xsi:type="dcterms:W3CDTF">2026-03-20T06:32:35Z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E946D631C81546B1AAF88EB766F28115_12</vt:lpwstr>
  </property>
  <property fmtid="{D5CDD505-2E9C-101B-9397-08002B2CF9AE}" pid="3" name="KSOProductBuildVer">
    <vt:lpwstr>1033-12.2.0.21931</vt:lpwstr>
  </property>
</Properties>
</file>